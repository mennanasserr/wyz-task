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0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74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F6BAE-1DC7-4ACD-D140-642914C8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5540A-BC14-EBF4-34C9-85E9E5A74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23DBC-54F0-29D0-398D-2EAFA2C27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47A42-AD72-4FF3-CE6B-C1E426CD4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38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6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57250"/>
            <a:ext cx="9525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22120"/>
            <a:ext cx="10566400" cy="432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57250"/>
            <a:ext cx="9525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22120"/>
            <a:ext cx="10566400" cy="432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6000" y="762000"/>
            <a:ext cx="3937000" cy="3937000"/>
          </a:xfrm>
          <a:prstGeom prst="roundRect">
            <a:avLst>
              <a:gd name="adj" fmla="val 41290"/>
            </a:avLst>
          </a:prstGeom>
          <a:solidFill>
            <a:srgbClr val="0E5E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7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OK&amp;3M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6731000" y="39370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7000" y="4699000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800" y="1460500"/>
            <a:ext cx="58864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MECHANICAL WORKS · SCHOOL PROJECT, CAIRO</a:t>
            </a:r>
            <a:endParaRPr lang="en-US" sz="15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1841500"/>
            <a:ext cx="5886450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90"/>
              </a:lnSpc>
              <a:buNone/>
            </a:pPr>
            <a:r>
              <a:rPr lang="en-US" sz="58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Mechanical Works Design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12800" y="3937000"/>
            <a:ext cx="58864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CBD9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HVAC · Fire Fighting · Plumbing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4445000"/>
            <a:ext cx="588645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8AA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Presented by Team OK&amp;3M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2800" y="5715000"/>
            <a:ext cx="2095500" cy="889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2800" y="5905500"/>
            <a:ext cx="2158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HVAC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98800" y="5715000"/>
            <a:ext cx="2095500" cy="88900"/>
          </a:xfrm>
          <a:prstGeom prst="roundRect">
            <a:avLst>
              <a:gd name="adj" fmla="val 50000"/>
            </a:avLst>
          </a:pr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98800" y="5905500"/>
            <a:ext cx="2158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 FIGHTING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84800" y="5715000"/>
            <a:ext cx="2095500" cy="88900"/>
          </a:xfrm>
          <a:prstGeom prst="roundRect">
            <a:avLst>
              <a:gd name="adj" fmla="val 50000"/>
            </a:avLst>
          </a:pr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84800" y="5905500"/>
            <a:ext cx="2158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PLUMBING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0" y="0"/>
            <a:ext cx="4445000" cy="4445000"/>
          </a:xfrm>
          <a:prstGeom prst="roundRect">
            <a:avLst>
              <a:gd name="adj" fmla="val 36571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508000"/>
            <a:ext cx="98107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Meet Team OK&amp;3M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13652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8AA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minds, one mechanical design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2159000"/>
            <a:ext cx="1905000" cy="3810000"/>
          </a:xfrm>
          <a:prstGeom prst="roundRect">
            <a:avLst>
              <a:gd name="adj" fmla="val 10667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2800" y="2159000"/>
            <a:ext cx="1905000" cy="3810000"/>
          </a:xfrm>
          <a:custGeom>
            <a:avLst/>
            <a:gdLst/>
            <a:ahLst/>
            <a:cxnLst/>
            <a:rect l="l" t="t" r="r" b="b"/>
            <a:pathLst>
              <a:path w="1905000" h="3810000">
                <a:moveTo>
                  <a:pt x="0" y="203200"/>
                </a:moveTo>
                <a:lnTo>
                  <a:pt x="0" y="203200"/>
                </a:lnTo>
                <a:arcTo wR="203200" hR="203200" stAng="10800000" swAng="5400000"/>
                <a:lnTo>
                  <a:pt x="1701800" y="0"/>
                </a:lnTo>
                <a:arcTo wR="203200" hR="203200" stAng="16200000" swAng="5400000"/>
                <a:lnTo>
                  <a:pt x="1905000" y="203200"/>
                </a:lnTo>
                <a:arcTo wR="203200" hR="127000" stAng="0" swAng="-5400000"/>
                <a:lnTo>
                  <a:pt x="203200" y="76200"/>
                </a:lnTo>
                <a:arcTo wR="203200" hR="127000" stAng="162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0300" y="320167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7000"/>
              </a:lnSpc>
              <a:buNone/>
            </a:pPr>
            <a:r>
              <a:rPr lang="en-US" sz="5000" b="1" dirty="0">
                <a:solidFill>
                  <a:srgbClr val="0A13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12800" y="4700270"/>
            <a:ext cx="1904921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Omar Soliman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78150" y="2159000"/>
            <a:ext cx="1905000" cy="3810000"/>
          </a:xfrm>
          <a:prstGeom prst="roundRect">
            <a:avLst>
              <a:gd name="adj" fmla="val 10667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78150" y="2159000"/>
            <a:ext cx="1905000" cy="3810000"/>
          </a:xfrm>
          <a:custGeom>
            <a:avLst/>
            <a:gdLst/>
            <a:ahLst/>
            <a:cxnLst/>
            <a:rect l="l" t="t" r="r" b="b"/>
            <a:pathLst>
              <a:path w="1905000" h="3810000">
                <a:moveTo>
                  <a:pt x="0" y="203200"/>
                </a:moveTo>
                <a:lnTo>
                  <a:pt x="0" y="203200"/>
                </a:lnTo>
                <a:arcTo wR="203200" hR="203200" stAng="10800000" swAng="5400000"/>
                <a:lnTo>
                  <a:pt x="1701800" y="0"/>
                </a:lnTo>
                <a:arcTo wR="203200" hR="203200" stAng="16200000" swAng="5400000"/>
                <a:lnTo>
                  <a:pt x="1905000" y="203200"/>
                </a:lnTo>
                <a:arcTo wR="203200" hR="127000" stAng="0" swAng="-5400000"/>
                <a:lnTo>
                  <a:pt x="203200" y="76200"/>
                </a:lnTo>
                <a:arcTo wR="203200" hR="127000" stAng="162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5650" y="320167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FF7A2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7000"/>
              </a:lnSpc>
              <a:buNone/>
            </a:pPr>
            <a:r>
              <a:rPr lang="en-US" sz="5000" b="1" dirty="0">
                <a:solidFill>
                  <a:srgbClr val="0A13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2992827" y="4700270"/>
            <a:ext cx="1875568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Kareem Tarek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43500" y="2159000"/>
            <a:ext cx="1905000" cy="3810000"/>
          </a:xfrm>
          <a:prstGeom prst="roundRect">
            <a:avLst>
              <a:gd name="adj" fmla="val 10667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43500" y="2159000"/>
            <a:ext cx="1905000" cy="3810000"/>
          </a:xfrm>
          <a:custGeom>
            <a:avLst/>
            <a:gdLst/>
            <a:ahLst/>
            <a:cxnLst/>
            <a:rect l="l" t="t" r="r" b="b"/>
            <a:pathLst>
              <a:path w="1905000" h="3810000">
                <a:moveTo>
                  <a:pt x="0" y="203200"/>
                </a:moveTo>
                <a:lnTo>
                  <a:pt x="0" y="203200"/>
                </a:lnTo>
                <a:arcTo wR="203200" hR="203200" stAng="10800000" swAng="5400000"/>
                <a:lnTo>
                  <a:pt x="1701800" y="0"/>
                </a:lnTo>
                <a:arcTo wR="203200" hR="203200" stAng="16200000" swAng="5400000"/>
                <a:lnTo>
                  <a:pt x="1905000" y="203200"/>
                </a:lnTo>
                <a:arcTo wR="203200" hR="127000" stAng="0" swAng="-5400000"/>
                <a:lnTo>
                  <a:pt x="203200" y="76200"/>
                </a:lnTo>
                <a:arcTo wR="203200" hR="127000" stAng="16200000" swAng="-5400000"/>
                <a:close/>
              </a:path>
            </a:pathLst>
          </a:cu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61000" y="305054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2EE6C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7000"/>
              </a:lnSpc>
              <a:buNone/>
            </a:pPr>
            <a:r>
              <a:rPr lang="en-US" sz="5000" b="1" dirty="0">
                <a:solidFill>
                  <a:srgbClr val="0A13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5114925" y="4549140"/>
            <a:ext cx="196215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Mahmoud Abd Elmaela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08850" y="2159000"/>
            <a:ext cx="1905000" cy="3810000"/>
          </a:xfrm>
          <a:prstGeom prst="roundRect">
            <a:avLst>
              <a:gd name="adj" fmla="val 10667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08850" y="2159000"/>
            <a:ext cx="1905000" cy="3810000"/>
          </a:xfrm>
          <a:custGeom>
            <a:avLst/>
            <a:gdLst/>
            <a:ahLst/>
            <a:cxnLst/>
            <a:rect l="l" t="t" r="r" b="b"/>
            <a:pathLst>
              <a:path w="1905000" h="3810000">
                <a:moveTo>
                  <a:pt x="0" y="203200"/>
                </a:moveTo>
                <a:lnTo>
                  <a:pt x="0" y="203200"/>
                </a:lnTo>
                <a:arcTo wR="203200" hR="203200" stAng="10800000" swAng="5400000"/>
                <a:lnTo>
                  <a:pt x="1701800" y="0"/>
                </a:lnTo>
                <a:arcTo wR="203200" hR="203200" stAng="16200000" swAng="5400000"/>
                <a:lnTo>
                  <a:pt x="1905000" y="203200"/>
                </a:lnTo>
                <a:arcTo wR="203200" hR="127000" stAng="0" swAng="-5400000"/>
                <a:lnTo>
                  <a:pt x="203200" y="76200"/>
                </a:lnTo>
                <a:arcTo wR="203200" hR="127000" stAng="16200000" swAng="-5400000"/>
                <a:close/>
              </a:path>
            </a:pathLst>
          </a:custGeom>
          <a:solidFill>
            <a:srgbClr val="E87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26350" y="305054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E879F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7000"/>
              </a:lnSpc>
              <a:buNone/>
            </a:pPr>
            <a:r>
              <a:rPr lang="en-US" sz="5000" b="1" dirty="0">
                <a:solidFill>
                  <a:srgbClr val="0A13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7280275" y="4549140"/>
            <a:ext cx="196215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Mariem Mohamed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474200" y="2159000"/>
            <a:ext cx="1905000" cy="3810000"/>
          </a:xfrm>
          <a:prstGeom prst="roundRect">
            <a:avLst>
              <a:gd name="adj" fmla="val 10667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4200" y="2159000"/>
            <a:ext cx="1905000" cy="3810000"/>
          </a:xfrm>
          <a:custGeom>
            <a:avLst/>
            <a:gdLst/>
            <a:ahLst/>
            <a:cxnLst/>
            <a:rect l="l" t="t" r="r" b="b"/>
            <a:pathLst>
              <a:path w="1905000" h="3810000">
                <a:moveTo>
                  <a:pt x="0" y="203200"/>
                </a:moveTo>
                <a:lnTo>
                  <a:pt x="0" y="203200"/>
                </a:lnTo>
                <a:arcTo wR="203200" hR="203200" stAng="10800000" swAng="5400000"/>
                <a:lnTo>
                  <a:pt x="1701800" y="0"/>
                </a:lnTo>
                <a:arcTo wR="203200" hR="203200" stAng="16200000" swAng="5400000"/>
                <a:lnTo>
                  <a:pt x="1905000" y="203200"/>
                </a:lnTo>
                <a:arcTo wR="203200" hR="127000" stAng="0" swAng="-5400000"/>
                <a:lnTo>
                  <a:pt x="203200" y="76200"/>
                </a:lnTo>
                <a:arcTo wR="203200" hR="127000" stAng="16200000" swAng="-5400000"/>
                <a:close/>
              </a:path>
            </a:pathLst>
          </a:cu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91700" y="320167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7000"/>
              </a:lnSpc>
              <a:buNone/>
            </a:pPr>
            <a:r>
              <a:rPr lang="en-US" sz="5000" b="1" dirty="0">
                <a:solidFill>
                  <a:srgbClr val="0A13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9474200" y="4700270"/>
            <a:ext cx="1904921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Menna Nasser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0" y="6794500"/>
            <a:ext cx="1016000" cy="63500"/>
          </a:xfrm>
          <a:prstGeom prst="rect">
            <a:avLst/>
          </a:prstGeom>
          <a:solidFill>
            <a:srgbClr val="E879F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0" y="0"/>
            <a:ext cx="4445000" cy="4445000"/>
          </a:xfrm>
          <a:prstGeom prst="roundRect">
            <a:avLst>
              <a:gd name="adj" fmla="val 36571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508000"/>
            <a:ext cx="7848600" cy="758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75"/>
              </a:lnSpc>
              <a:buNone/>
            </a:pPr>
            <a:r>
              <a:rPr lang="en-US" sz="55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5500" dirty="0"/>
          </a:p>
        </p:txBody>
      </p:sp>
      <p:sp>
        <p:nvSpPr>
          <p:cNvPr id="4" name="Shape 2"/>
          <p:cNvSpPr/>
          <p:nvPr/>
        </p:nvSpPr>
        <p:spPr>
          <a:xfrm>
            <a:off x="812800" y="1841500"/>
            <a:ext cx="9525000" cy="736600"/>
          </a:xfrm>
          <a:prstGeom prst="roundRect">
            <a:avLst>
              <a:gd name="adj" fmla="val 24138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2800" y="1841500"/>
            <a:ext cx="9525000" cy="736600"/>
          </a:xfrm>
          <a:custGeom>
            <a:avLst/>
            <a:gdLst/>
            <a:ahLst/>
            <a:cxnLst/>
            <a:rect l="l" t="t" r="r" b="b"/>
            <a:pathLst>
              <a:path w="9525000" h="736600">
                <a:moveTo>
                  <a:pt x="177800" y="736600"/>
                </a:moveTo>
                <a:lnTo>
                  <a:pt x="177800" y="736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lnTo>
                  <a:pt x="177800" y="0"/>
                </a:lnTo>
                <a:arcTo wR="88900" hR="177800" stAng="16200000" swAng="-5400000"/>
                <a:lnTo>
                  <a:pt x="88900" y="558800"/>
                </a:lnTo>
                <a:arcTo wR="88900" hR="177800" stAng="10800000" swAng="-5400000"/>
                <a:close/>
              </a:path>
            </a:pathLst>
          </a:custGeom>
          <a:solidFill>
            <a:srgbClr val="E87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3160" y="1925320"/>
            <a:ext cx="81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879F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69160" y="1996441"/>
            <a:ext cx="229514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12800" y="2730500"/>
            <a:ext cx="9525000" cy="736600"/>
          </a:xfrm>
          <a:prstGeom prst="roundRect">
            <a:avLst>
              <a:gd name="adj" fmla="val 24138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2800" y="2730500"/>
            <a:ext cx="9525000" cy="736600"/>
          </a:xfrm>
          <a:custGeom>
            <a:avLst/>
            <a:gdLst/>
            <a:ahLst/>
            <a:cxnLst/>
            <a:rect l="l" t="t" r="r" b="b"/>
            <a:pathLst>
              <a:path w="9525000" h="736600">
                <a:moveTo>
                  <a:pt x="177800" y="736600"/>
                </a:moveTo>
                <a:lnTo>
                  <a:pt x="177800" y="736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lnTo>
                  <a:pt x="177800" y="0"/>
                </a:lnTo>
                <a:arcTo wR="88900" hR="177800" stAng="16200000" swAng="-5400000"/>
                <a:lnTo>
                  <a:pt x="88900" y="558800"/>
                </a:lnTo>
                <a:arcTo wR="88900" hR="1778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53160" y="2814320"/>
            <a:ext cx="81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169160" y="2885441"/>
            <a:ext cx="269462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· HVAC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2800" y="3619500"/>
            <a:ext cx="9525000" cy="736600"/>
          </a:xfrm>
          <a:prstGeom prst="roundRect">
            <a:avLst>
              <a:gd name="adj" fmla="val 24138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2800" y="3619500"/>
            <a:ext cx="9525000" cy="736600"/>
          </a:xfrm>
          <a:custGeom>
            <a:avLst/>
            <a:gdLst/>
            <a:ahLst/>
            <a:cxnLst/>
            <a:rect l="l" t="t" r="r" b="b"/>
            <a:pathLst>
              <a:path w="9525000" h="736600">
                <a:moveTo>
                  <a:pt x="177800" y="736600"/>
                </a:moveTo>
                <a:lnTo>
                  <a:pt x="177800" y="736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lnTo>
                  <a:pt x="177800" y="0"/>
                </a:lnTo>
                <a:arcTo wR="88900" hR="177800" stAng="16200000" swAng="-5400000"/>
                <a:lnTo>
                  <a:pt x="88900" y="558800"/>
                </a:lnTo>
                <a:arcTo wR="88900" hR="1778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53160" y="3703320"/>
            <a:ext cx="81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169160" y="3774441"/>
            <a:ext cx="39817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 · Fire Fighting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12800" y="4508500"/>
            <a:ext cx="9525000" cy="736600"/>
          </a:xfrm>
          <a:prstGeom prst="roundRect">
            <a:avLst>
              <a:gd name="adj" fmla="val 24138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2800" y="4508500"/>
            <a:ext cx="9525000" cy="736600"/>
          </a:xfrm>
          <a:custGeom>
            <a:avLst/>
            <a:gdLst/>
            <a:ahLst/>
            <a:cxnLst/>
            <a:rect l="l" t="t" r="r" b="b"/>
            <a:pathLst>
              <a:path w="9525000" h="736600">
                <a:moveTo>
                  <a:pt x="177800" y="736600"/>
                </a:moveTo>
                <a:lnTo>
                  <a:pt x="177800" y="736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lnTo>
                  <a:pt x="177800" y="0"/>
                </a:lnTo>
                <a:arcTo wR="88900" hR="177800" stAng="16200000" swAng="-5400000"/>
                <a:lnTo>
                  <a:pt x="88900" y="558800"/>
                </a:lnTo>
                <a:arcTo wR="88900" hR="177800" stAng="10800000" swAng="-5400000"/>
                <a:close/>
              </a:path>
            </a:pathLst>
          </a:cu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53160" y="4592320"/>
            <a:ext cx="81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169160" y="4663441"/>
            <a:ext cx="81686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3 · Plumbing (Water Supply &amp; Drainage)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12800" y="5397500"/>
            <a:ext cx="9525000" cy="736600"/>
          </a:xfrm>
          <a:prstGeom prst="roundRect">
            <a:avLst>
              <a:gd name="adj" fmla="val 24138"/>
            </a:avLst>
          </a:prstGeom>
          <a:solidFill>
            <a:srgbClr val="111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2800" y="5397500"/>
            <a:ext cx="9525000" cy="736600"/>
          </a:xfrm>
          <a:custGeom>
            <a:avLst/>
            <a:gdLst/>
            <a:ahLst/>
            <a:cxnLst/>
            <a:rect l="l" t="t" r="r" b="b"/>
            <a:pathLst>
              <a:path w="9525000" h="736600">
                <a:moveTo>
                  <a:pt x="177800" y="736600"/>
                </a:moveTo>
                <a:lnTo>
                  <a:pt x="177800" y="736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lnTo>
                  <a:pt x="177800" y="0"/>
                </a:lnTo>
                <a:arcTo wR="88900" hR="177800" stAng="16200000" swAng="-5400000"/>
                <a:lnTo>
                  <a:pt x="88900" y="558800"/>
                </a:lnTo>
                <a:arcTo wR="88900" hR="177800" stAng="10800000" swAng="-5400000"/>
                <a:close/>
              </a:path>
            </a:pathLst>
          </a:cu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53160" y="5481320"/>
            <a:ext cx="81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BBF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169160" y="5552441"/>
            <a:ext cx="209588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0" y="6794500"/>
            <a:ext cx="1524000" cy="635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381000"/>
            <a:ext cx="981075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Introduction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12800" y="1079500"/>
            <a:ext cx="981075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8AA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school in Cairo, with the mechanical works designed in 3 phases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12800" y="1714500"/>
            <a:ext cx="3365500" cy="3377762"/>
          </a:xfrm>
          <a:prstGeom prst="roundRect">
            <a:avLst>
              <a:gd name="adj" fmla="val 6038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2800" y="1714500"/>
            <a:ext cx="3365500" cy="4508500"/>
          </a:xfrm>
          <a:custGeom>
            <a:avLst/>
            <a:gdLst/>
            <a:ahLst/>
            <a:cxnLst/>
            <a:rect l="l" t="t" r="r" b="b"/>
            <a:pathLst>
              <a:path w="3365500" h="4508500">
                <a:moveTo>
                  <a:pt x="0" y="203200"/>
                </a:moveTo>
                <a:lnTo>
                  <a:pt x="0" y="203200"/>
                </a:lnTo>
                <a:arcTo wR="203200" hR="203200" stAng="10800000" swAng="5400000"/>
                <a:lnTo>
                  <a:pt x="3162300" y="0"/>
                </a:lnTo>
                <a:arcTo wR="203200" hR="203200" stAng="16200000" swAng="5400000"/>
                <a:lnTo>
                  <a:pt x="3365500" y="203200"/>
                </a:lnTo>
                <a:arcTo wR="203200" hR="114300" stAng="0" swAng="-5400000"/>
                <a:lnTo>
                  <a:pt x="203200" y="88900"/>
                </a:lnTo>
                <a:arcTo wR="203200" hR="114300" stAng="162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2533518"/>
            <a:ext cx="3047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2884037"/>
            <a:ext cx="3047873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HVAC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16000" y="3397118"/>
            <a:ext cx="304787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VRV system with individual control for every classroom, plus fan coil units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13250" y="1714500"/>
            <a:ext cx="3365500" cy="3377762"/>
          </a:xfrm>
          <a:prstGeom prst="roundRect">
            <a:avLst>
              <a:gd name="adj" fmla="val 6038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13250" y="1714500"/>
            <a:ext cx="3365500" cy="4508500"/>
          </a:xfrm>
          <a:custGeom>
            <a:avLst/>
            <a:gdLst/>
            <a:ahLst/>
            <a:cxnLst/>
            <a:rect l="l" t="t" r="r" b="b"/>
            <a:pathLst>
              <a:path w="3365500" h="4508500">
                <a:moveTo>
                  <a:pt x="0" y="203200"/>
                </a:moveTo>
                <a:lnTo>
                  <a:pt x="0" y="203200"/>
                </a:lnTo>
                <a:arcTo wR="203200" hR="203200" stAng="10800000" swAng="5400000"/>
                <a:lnTo>
                  <a:pt x="3162300" y="0"/>
                </a:lnTo>
                <a:arcTo wR="203200" hR="203200" stAng="16200000" swAng="5400000"/>
                <a:lnTo>
                  <a:pt x="3365500" y="203200"/>
                </a:lnTo>
                <a:arcTo wR="203200" hR="114300" stAng="0" swAng="-5400000"/>
                <a:lnTo>
                  <a:pt x="203200" y="88900"/>
                </a:lnTo>
                <a:arcTo wR="203200" hR="114300" stAng="162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6450" y="2580811"/>
            <a:ext cx="3047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6450" y="2931330"/>
            <a:ext cx="3047873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 Fighting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616450" y="3444411"/>
            <a:ext cx="304787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Sprinklers, extinguishers, zone control valves, pump room and stair pressurization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13700" y="1714500"/>
            <a:ext cx="3365500" cy="3377762"/>
          </a:xfrm>
          <a:prstGeom prst="roundRect">
            <a:avLst>
              <a:gd name="adj" fmla="val 6038"/>
            </a:avLst>
          </a:prstGeom>
          <a:solidFill>
            <a:srgbClr val="074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13700" y="1714500"/>
            <a:ext cx="3365500" cy="4508500"/>
          </a:xfrm>
          <a:custGeom>
            <a:avLst/>
            <a:gdLst/>
            <a:ahLst/>
            <a:cxnLst/>
            <a:rect l="l" t="t" r="r" b="b"/>
            <a:pathLst>
              <a:path w="3365500" h="4508500">
                <a:moveTo>
                  <a:pt x="0" y="203200"/>
                </a:moveTo>
                <a:lnTo>
                  <a:pt x="0" y="203200"/>
                </a:lnTo>
                <a:arcTo wR="203200" hR="203200" stAng="10800000" swAng="5400000"/>
                <a:lnTo>
                  <a:pt x="3162300" y="0"/>
                </a:lnTo>
                <a:arcTo wR="203200" hR="203200" stAng="16200000" swAng="5400000"/>
                <a:lnTo>
                  <a:pt x="3365500" y="203200"/>
                </a:lnTo>
                <a:arcTo wR="203200" hR="114300" stAng="0" swAng="-5400000"/>
                <a:lnTo>
                  <a:pt x="203200" y="88900"/>
                </a:lnTo>
                <a:arcTo wR="203200" hR="114300" stAng="16200000" swAng="-5400000"/>
                <a:close/>
              </a:path>
            </a:pathLst>
          </a:cu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16900" y="2580811"/>
            <a:ext cx="3047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16900" y="2931330"/>
            <a:ext cx="3047873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Plumbing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216900" y="3444411"/>
            <a:ext cx="304787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BD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Water supply sized by WSFU and GPM, and drainage sized by DFU and slope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794500"/>
            <a:ext cx="2032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144D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1571625" cy="3327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· HVAC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Selection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192341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type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23837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Indoor and outdoor units selected based on the nature of the project: a school with many classrooms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29527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29527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03466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VRV system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33496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Chosen because the cooling load changes between classrooms and during the day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0640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0640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414591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Individual control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446087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classroom has its own control, so it runs only when needed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51752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2800" y="51752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4260" y="5377182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Fan coil units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64260" y="5692139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Fan coil units used as well in the spaces that suit them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794500"/>
            <a:ext cx="2540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144D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1571625" cy="3327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· HVAC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Heat Load Calculation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192341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HAP software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23837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Heat loads for every room calculated using HAP (Hourly Analysis Program)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29527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29527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03466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33496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envelope, occupancy, lighting, equipment and ventilation entered for each space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0640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0640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414591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446087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Cooling load of each room used to size the indoor and outdoor units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51752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2800" y="51752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4260" y="525716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Verification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64260" y="55721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Several rooms calculated manually to confirm the HAP results are correct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794500"/>
            <a:ext cx="3048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3BFDC7E-BC11-6AEA-0172-0800AA4930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763" b="6190"/>
          <a:stretch>
            <a:fillRect/>
          </a:stretch>
        </p:blipFill>
        <p:spPr>
          <a:xfrm>
            <a:off x="7427495" y="1969737"/>
            <a:ext cx="4362784" cy="4145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144D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1571625" cy="3327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· HVAC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Equipment Selection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192341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Catalogs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23837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Indoor and outdoor units selected from manufacturer catalogs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29527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29527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03466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Matching the load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33496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capacity chosen to cover the calculated load of each room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0640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0640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414591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Outdoor units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446087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Outdoor units selected to serve the group of indoor units connected to them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51752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2800" y="51752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4260" y="525716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Fan coils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64260" y="55721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Fan coil units selected from catalogs for the spaces that use them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794500"/>
            <a:ext cx="35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E7CA45-CFED-6BD7-675E-7AC4939C1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120" y="1841500"/>
            <a:ext cx="4612639" cy="423608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144D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1571625" cy="3327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· HVAC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Air Outlets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210756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Ceiling type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4225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Outlet type chosen based on the ceiling type in each space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32105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332105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587114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390207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Outlets selected from manufacturer catalogs and sized for the required airflow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8006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8006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5186679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55016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Outlets distributed over the ceiling for even air coverage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794500"/>
            <a:ext cx="4064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BC31863-C3F2-DEFE-EABA-CFA58FA8D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604" y="1866900"/>
            <a:ext cx="4364083" cy="411268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144D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1571625" cy="3327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· HVAC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Ducts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210756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Duct sizing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4225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Duct sizer used to size the duct network from the airflow of each outlet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3717764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3717764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4103843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Drawings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4418806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Layouts prepared with the final duct and pipe sizes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794500"/>
            <a:ext cx="4572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C131952-91F4-8123-AE87-DADCDC71F9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8" t="-1613" r="75985" b="42439"/>
          <a:stretch>
            <a:fillRect/>
          </a:stretch>
        </p:blipFill>
        <p:spPr>
          <a:xfrm>
            <a:off x="8153065" y="1442720"/>
            <a:ext cx="2470485" cy="405812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144D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1571625" cy="3327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· HVAC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Ventilation, ESP &amp; BOQ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192341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Toilet ventilation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23837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Ventilation designed for the toilets, with the extract airflow calculated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29527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29527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154679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 calculations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34696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External static pressure calculated for the duct network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421273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2800" y="421273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4260" y="429464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Quantity take-off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64260" y="460960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Quantities of units, ducts, pipes and outlets counted from the drawings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794500"/>
            <a:ext cx="5080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144D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1571625" cy="3327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· HVAC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3D Model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210756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Autodesk Viewer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4225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HVAC project is available as a 3D model in Autodesk Viewer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32105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332105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707129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view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402209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the QR code with your phone to open the model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8006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8006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5186679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see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55016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Units, ducts, pipes and outlets placed in the building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794500"/>
            <a:ext cx="5588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504C13-17A0-BCFA-D7F4-2BE660C87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48" y="1480817"/>
            <a:ext cx="4188687" cy="47675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144D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1571625" cy="3327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· HVAC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VRV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192341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VRV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23837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 Refrigerant Volume: one outdoor unit serves several indoor units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29527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29527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03466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works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33496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compressor changes the refrigerant flow to match the load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0640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0640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414591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here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446087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school has a variable load and needs individual control for each classroom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51752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C2E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2800" y="51752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4260" y="5377179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Benefits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64260" y="56921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6D4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Energy saving at part load and flexible zoning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794500"/>
            <a:ext cx="609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294" y="4738401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144D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1571625" cy="3327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· HVAC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Photos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0" y="6794500"/>
            <a:ext cx="6604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939B74-9681-DB1E-0D99-A27ABEFC5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043" y="1423367"/>
            <a:ext cx="7917063" cy="516191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0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97709-B634-C3C9-1CB9-9B462A2A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B714CD-C079-DF4D-7A7C-B737ABCA0F25}"/>
              </a:ext>
            </a:extLst>
          </p:cNvPr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93F8BF-85F6-2F19-5667-2BFEBE3F577A}"/>
              </a:ext>
            </a:extLst>
          </p:cNvPr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E14614-E2B5-5662-1A12-C652C838E0B9}"/>
              </a:ext>
            </a:extLst>
          </p:cNvPr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144D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D1970A-3EB6-65D9-7212-5C714CA325EF}"/>
              </a:ext>
            </a:extLst>
          </p:cNvPr>
          <p:cNvSpPr/>
          <p:nvPr/>
        </p:nvSpPr>
        <p:spPr>
          <a:xfrm>
            <a:off x="812800" y="444500"/>
            <a:ext cx="1571625" cy="3327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 · HVAC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B7AB8A-4015-56B4-8B39-0FE0F593D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Photos</a:t>
            </a:r>
            <a:endParaRPr lang="en-US" sz="4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21C3260-37D4-D0E3-CD18-9C3FDBEA3BB2}"/>
              </a:ext>
            </a:extLst>
          </p:cNvPr>
          <p:cNvSpPr/>
          <p:nvPr/>
        </p:nvSpPr>
        <p:spPr>
          <a:xfrm>
            <a:off x="0" y="6794500"/>
            <a:ext cx="6604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50F972-2CE5-0F9E-39CA-DF0907DB28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684" y="1428750"/>
            <a:ext cx="7199296" cy="476123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03933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6B20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2267823" cy="332740"/>
          </a:xfrm>
          <a:prstGeom prst="roundRect">
            <a:avLst>
              <a:gd name="adj" fmla="val 50000"/>
            </a:avLst>
          </a:prstGeom>
          <a:solidFill>
            <a:srgbClr val="FF7A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 · FIRE FIGHTING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Layout &amp; Devices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2043429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Architectural plans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358392"/>
            <a:ext cx="546354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Reviewed first to understand the ceilings and room layouts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29527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29527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154679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Sprinkler types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34696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Types chosen based on the ceiling type in each space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0640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0640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4265929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Sprinkler distribution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458089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Sprinklers distributed over the floors of the building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51752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2800" y="51752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4260" y="525716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Extinguishers &amp; hose boxes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64260" y="55721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 extinguishers and fire hose boxes placed across the building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794500"/>
            <a:ext cx="7112000" cy="63500"/>
          </a:xfrm>
          <a:prstGeom prst="rect">
            <a:avLst/>
          </a:pr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6B20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2267823" cy="332740"/>
          </a:xfrm>
          <a:prstGeom prst="roundRect">
            <a:avLst>
              <a:gd name="adj" fmla="val 50000"/>
            </a:avLst>
          </a:prstGeom>
          <a:solidFill>
            <a:srgbClr val="FF7A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 · FIRE FIGHTING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Piping &amp; Zoning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2227579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Sprinkler pipes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5425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 network drawn to feed all the sprinklers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32105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332105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707129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 diameters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402209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Diameters taken from the code tables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8006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8006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5186679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 control valves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55016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Zones separated using zone control valves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794500"/>
            <a:ext cx="7620000" cy="63500"/>
          </a:xfrm>
          <a:prstGeom prst="rect">
            <a:avLst/>
          </a:pr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F807D2-DEB8-1801-21C4-634E5A161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600" y="2018494"/>
            <a:ext cx="4547748" cy="39322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6B20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2267823" cy="332740"/>
          </a:xfrm>
          <a:prstGeom prst="roundRect">
            <a:avLst>
              <a:gd name="adj" fmla="val 50000"/>
            </a:avLst>
          </a:prstGeom>
          <a:solidFill>
            <a:srgbClr val="FF7A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 · FIRE FIGHTING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Hydraulic Calculations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2227585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5425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Hydraulic calculations done with Elite software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32105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332105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58711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Purpose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390207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 the flow and pressure needed at the most demanding sprinklers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8006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8006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5186685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55016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Used to check the pipe sizes and select the pumps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794500"/>
            <a:ext cx="8128000" cy="63500"/>
          </a:xfrm>
          <a:prstGeom prst="rect">
            <a:avLst/>
          </a:pr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2D0D86E-E334-C6BE-DD44-ED0F173F43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33" r="4001" b="15907"/>
          <a:stretch>
            <a:fillRect/>
          </a:stretch>
        </p:blipFill>
        <p:spPr>
          <a:xfrm>
            <a:off x="7490296" y="1869309"/>
            <a:ext cx="3806677" cy="415023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6B20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2267823" cy="332740"/>
          </a:xfrm>
          <a:prstGeom prst="roundRect">
            <a:avLst>
              <a:gd name="adj" fmla="val 50000"/>
            </a:avLst>
          </a:prstGeom>
          <a:solidFill>
            <a:srgbClr val="FF7A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 · FIRE FIGHTING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Pump Room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2227585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Pump room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5425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Designed to supply the required flow and pressure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32105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332105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707135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Equipment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402209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Pumps selected from the hydraulic calculation results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8006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8006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5186685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Details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55016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the QR code to see the full pump room and tank details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794500"/>
            <a:ext cx="8636000" cy="63500"/>
          </a:xfrm>
          <a:prstGeom prst="rect">
            <a:avLst/>
          </a:pr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49C3A7B-E7D5-F8A1-0204-3409EDDAB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223" y="1773621"/>
            <a:ext cx="3929977" cy="42271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6B20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2267823" cy="332740"/>
          </a:xfrm>
          <a:prstGeom prst="roundRect">
            <a:avLst>
              <a:gd name="adj" fmla="val 50000"/>
            </a:avLst>
          </a:prstGeom>
          <a:solidFill>
            <a:srgbClr val="FF7A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 · FIRE FIGHTING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Notes From Code :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0" y="6794500"/>
            <a:ext cx="9144000" cy="63500"/>
          </a:xfrm>
          <a:prstGeom prst="rect">
            <a:avLst/>
          </a:pr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2BDE1B-AB99-1241-17EC-FE1CB61ACD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7" t="52778" r="18187" b="16813"/>
          <a:stretch>
            <a:fillRect/>
          </a:stretch>
        </p:blipFill>
        <p:spPr>
          <a:xfrm>
            <a:off x="812800" y="1814961"/>
            <a:ext cx="6118557" cy="166851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FD36A9-F230-E0CD-A501-B8172B8561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47" t="49268" r="29533" b="39142"/>
          <a:stretch>
            <a:fillRect/>
          </a:stretch>
        </p:blipFill>
        <p:spPr>
          <a:xfrm>
            <a:off x="4667423" y="4630183"/>
            <a:ext cx="6215514" cy="6359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4A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6B20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2267823" cy="332740"/>
          </a:xfrm>
          <a:prstGeom prst="roundRect">
            <a:avLst>
              <a:gd name="adj" fmla="val 50000"/>
            </a:avLst>
          </a:prstGeom>
          <a:solidFill>
            <a:srgbClr val="FF7A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 · FIRE FIGHTING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Supporting Systems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210756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Siamese connection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4225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Allows the fire department to supply water to the building system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32105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332105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707135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 hydrant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402209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Water point used for fire fighting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800600"/>
            <a:ext cx="5715000" cy="1327150"/>
          </a:xfrm>
          <a:prstGeom prst="roundRect">
            <a:avLst>
              <a:gd name="adj" fmla="val 11483"/>
            </a:avLst>
          </a:prstGeom>
          <a:solidFill>
            <a:srgbClr val="3B12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800600"/>
            <a:ext cx="5715000" cy="1327150"/>
          </a:xfrm>
          <a:custGeom>
            <a:avLst/>
            <a:gdLst/>
            <a:ahLst/>
            <a:cxnLst/>
            <a:rect l="l" t="t" r="r" b="b"/>
            <a:pathLst>
              <a:path w="5715000" h="1327150">
                <a:moveTo>
                  <a:pt x="152400" y="1327150"/>
                </a:moveTo>
                <a:lnTo>
                  <a:pt x="152400" y="13271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174750"/>
                </a:lnTo>
                <a:arcTo wR="88900" hR="152400" stAng="10800000" swAng="-5400000"/>
                <a:close/>
              </a:path>
            </a:pathLst>
          </a:cu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5186685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Stair pressurization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550164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C9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Keeps smoke out of the staircases during a fire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794500"/>
            <a:ext cx="9652000" cy="63500"/>
          </a:xfrm>
          <a:prstGeom prst="rect">
            <a:avLst/>
          </a:prstGeom>
          <a:solidFill>
            <a:srgbClr val="FF7A2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074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74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0D62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1977946" cy="332740"/>
          </a:xfrm>
          <a:prstGeom prst="roundRect">
            <a:avLst>
              <a:gd name="adj" fmla="val 50000"/>
            </a:avLst>
          </a:prstGeom>
          <a:solidFill>
            <a:srgbClr val="2EE6C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3 · PLUMBING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Water Supply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73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2043435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Plumbing fixtures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35839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D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Fixtures selected for the toilets and service rooms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29527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73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29527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03466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WSFU from IPC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33496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D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Water supply fixture units of each fixture taken from the IPC code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0640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73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0640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4265935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Units to GPM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4580892"/>
            <a:ext cx="546354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D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Fixture units added together, then converted to flow in GPM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51752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73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2800" y="51752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4260" y="525716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 size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64260" y="55721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D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 converted to pipe diameter in inches to design the pipes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794500"/>
            <a:ext cx="10668000" cy="63500"/>
          </a:xfrm>
          <a:prstGeom prst="rect">
            <a:avLst/>
          </a:pr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2B413F5-8B36-E4B7-548B-222E8A025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887" y="1860196"/>
            <a:ext cx="4961221" cy="42651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4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5080000"/>
          </a:xfrm>
          <a:prstGeom prst="roundRect">
            <a:avLst>
              <a:gd name="adj" fmla="val 32000"/>
            </a:avLst>
          </a:prstGeom>
          <a:solidFill>
            <a:srgbClr val="074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88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74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92440" y="63500"/>
            <a:ext cx="340106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4000"/>
              </a:lnSpc>
              <a:buNone/>
            </a:pPr>
            <a:r>
              <a:rPr lang="en-US" sz="14000" b="1" dirty="0">
                <a:solidFill>
                  <a:srgbClr val="0D62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812800" y="444500"/>
            <a:ext cx="1977946" cy="332740"/>
          </a:xfrm>
          <a:prstGeom prst="roundRect">
            <a:avLst>
              <a:gd name="adj" fmla="val 50000"/>
            </a:avLst>
          </a:prstGeom>
          <a:solidFill>
            <a:srgbClr val="2EE6C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412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3 · PLUMBING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857250"/>
            <a:ext cx="981075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Drainage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12800" y="18415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73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8415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260" y="2043435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DFU from the code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4260" y="235839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D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Drainage fixture units of each fixture taken from the code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29527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73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2800" y="29527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4260" y="303466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Horizontal branch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4260" y="33496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D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DFU converted to pipe diameter in inches for the horizontal branch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06400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73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406400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4260" y="4265935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Slope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64260" y="4580892"/>
            <a:ext cx="543123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D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Slope selected for the horizontal drain pipes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5175250"/>
            <a:ext cx="5715000" cy="958850"/>
          </a:xfrm>
          <a:prstGeom prst="roundRect">
            <a:avLst>
              <a:gd name="adj" fmla="val 15894"/>
            </a:avLst>
          </a:prstGeom>
          <a:solidFill>
            <a:srgbClr val="073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2800" y="5175250"/>
            <a:ext cx="5715000" cy="958850"/>
          </a:xfrm>
          <a:custGeom>
            <a:avLst/>
            <a:gdLst/>
            <a:ahLst/>
            <a:cxnLst/>
            <a:rect l="l" t="t" r="r" b="b"/>
            <a:pathLst>
              <a:path w="5715000" h="958850">
                <a:moveTo>
                  <a:pt x="152400" y="958850"/>
                </a:moveTo>
                <a:lnTo>
                  <a:pt x="152400" y="95885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806450"/>
                </a:lnTo>
                <a:arcTo wR="88900" hR="152400" stAng="10800000" swAng="-5400000"/>
                <a:close/>
              </a:path>
            </a:pathLst>
          </a:cu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4260" y="5257167"/>
            <a:ext cx="54312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 design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64260" y="5572125"/>
            <a:ext cx="54312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D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Drainage pipes designed using the selected sizes and slope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794500"/>
            <a:ext cx="11176000" cy="63500"/>
          </a:xfrm>
          <a:prstGeom prst="rect">
            <a:avLst/>
          </a:prstGeom>
          <a:solidFill>
            <a:srgbClr val="2EE6C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92CB82F-5C11-5AB1-2071-AA88B0BC7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908079"/>
            <a:ext cx="4454468" cy="42054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6000" y="0"/>
            <a:ext cx="4826000" cy="4826000"/>
          </a:xfrm>
          <a:prstGeom prst="roundRect">
            <a:avLst>
              <a:gd name="adj" fmla="val 33684"/>
            </a:avLst>
          </a:prstGeom>
          <a:solidFill>
            <a:srgbClr val="0E22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508000"/>
            <a:ext cx="9156700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1651000"/>
            <a:ext cx="981075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8AA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&amp; Discussion · Team OK&amp;3M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8700" y="2565400"/>
            <a:ext cx="1473200" cy="1473200"/>
          </a:xfrm>
          <a:prstGeom prst="roundRect">
            <a:avLst>
              <a:gd name="adj" fmla="val 50000"/>
            </a:avLst>
          </a:prstGeom>
          <a:solidFill>
            <a:srgbClr val="111D45"/>
          </a:solidFill>
          <a:ln w="50800">
            <a:solidFill>
              <a:srgbClr val="38BDF8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331" y="4254500"/>
            <a:ext cx="1921859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Omar Soliman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94050" y="2565400"/>
            <a:ext cx="1473200" cy="1473200"/>
          </a:xfrm>
          <a:prstGeom prst="roundRect">
            <a:avLst>
              <a:gd name="adj" fmla="val 50000"/>
            </a:avLst>
          </a:prstGeom>
          <a:solidFill>
            <a:srgbClr val="111D45"/>
          </a:solidFill>
          <a:ln w="50800">
            <a:solidFill>
              <a:srgbClr val="FF7A2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7A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92827" y="4254500"/>
            <a:ext cx="1875568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Kareem Tarek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59400" y="2565400"/>
            <a:ext cx="1473200" cy="1473200"/>
          </a:xfrm>
          <a:prstGeom prst="roundRect">
            <a:avLst>
              <a:gd name="adj" fmla="val 50000"/>
            </a:avLst>
          </a:prstGeom>
          <a:solidFill>
            <a:srgbClr val="111D45"/>
          </a:solidFill>
          <a:ln w="50800">
            <a:solidFill>
              <a:srgbClr val="2EE6C5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E6C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14925" y="4254500"/>
            <a:ext cx="196215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Mahmoud Abd Elmaela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24750" y="2565400"/>
            <a:ext cx="1473200" cy="1473200"/>
          </a:xfrm>
          <a:prstGeom prst="roundRect">
            <a:avLst>
              <a:gd name="adj" fmla="val 50000"/>
            </a:avLst>
          </a:prstGeom>
          <a:solidFill>
            <a:srgbClr val="111D45"/>
          </a:solidFill>
          <a:ln w="50800">
            <a:solidFill>
              <a:srgbClr val="E879F9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79F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80275" y="4254500"/>
            <a:ext cx="196215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Mariem Mohamed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90100" y="2565400"/>
            <a:ext cx="1473200" cy="1473200"/>
          </a:xfrm>
          <a:prstGeom prst="roundRect">
            <a:avLst>
              <a:gd name="adj" fmla="val 50000"/>
            </a:avLst>
          </a:prstGeom>
          <a:solidFill>
            <a:srgbClr val="111D45"/>
          </a:solidFill>
          <a:ln w="50800">
            <a:solidFill>
              <a:srgbClr val="FBBF24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72684" y="4254500"/>
            <a:ext cx="1907953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Menna Nasser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E879F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chanical Works – School Project, Cairo | OK&amp;3M">
  <a:themeElements>
    <a:clrScheme name="Mechanical Works – School Project, Cairo | OK&amp;3M">
      <a:dk1>
        <a:srgbClr val="06203F"/>
      </a:dk1>
      <a:lt1>
        <a:srgbClr val="FFFFFF"/>
      </a:lt1>
      <a:dk2>
        <a:srgbClr val="1F3652"/>
      </a:dk2>
      <a:lt2>
        <a:srgbClr val="C1C7CF"/>
      </a:lt2>
      <a:accent1>
        <a:srgbClr val="38BDF8"/>
      </a:accent1>
      <a:accent2>
        <a:srgbClr val="FF7A2F"/>
      </a:accent2>
      <a:accent3>
        <a:srgbClr val="3B1216"/>
      </a:accent3>
      <a:accent4>
        <a:srgbClr val="2EE6C5"/>
      </a:accent4>
      <a:accent5>
        <a:srgbClr val="B6D4EE"/>
      </a:accent5>
      <a:accent6>
        <a:srgbClr val="0B3A6B"/>
      </a:accent6>
      <a:hlink>
        <a:srgbClr val="0563C1"/>
      </a:hlink>
      <a:folHlink>
        <a:srgbClr val="954F72"/>
      </a:folHlink>
    </a:clrScheme>
    <a:fontScheme name="Mechanical Works – School Project, Cairo | OK&amp;3M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967</Words>
  <Application>Microsoft Office PowerPoint</Application>
  <PresentationFormat>Widescreen</PresentationFormat>
  <Paragraphs>233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Poppins</vt:lpstr>
      <vt:lpstr>Mechanical Works – School Project, Cairo | OK&amp;3M</vt:lpstr>
      <vt:lpstr>Mechanical Works Design</vt:lpstr>
      <vt:lpstr>Meet Team OK&amp;3M</vt:lpstr>
      <vt:lpstr>Agenda</vt:lpstr>
      <vt:lpstr>Project Introduction</vt:lpstr>
      <vt:lpstr>System Selection</vt:lpstr>
      <vt:lpstr>Heat Load Calculation</vt:lpstr>
      <vt:lpstr>Equipment Selection</vt:lpstr>
      <vt:lpstr>Air Outlets</vt:lpstr>
      <vt:lpstr>Ducts</vt:lpstr>
      <vt:lpstr>Ventilation, ESP &amp; BOQ</vt:lpstr>
      <vt:lpstr>3D Model</vt:lpstr>
      <vt:lpstr>About VRV</vt:lpstr>
      <vt:lpstr>Project Photos</vt:lpstr>
      <vt:lpstr>Project Photos</vt:lpstr>
      <vt:lpstr>Layout &amp; Devices</vt:lpstr>
      <vt:lpstr>Piping &amp; Zoning</vt:lpstr>
      <vt:lpstr>Hydraulic Calculations</vt:lpstr>
      <vt:lpstr>Pump Room</vt:lpstr>
      <vt:lpstr>Notes From Code :</vt:lpstr>
      <vt:lpstr>Supporting Systems</vt:lpstr>
      <vt:lpstr>Water Supply</vt:lpstr>
      <vt:lpstr>Drainage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Mechanical Works – School Project, Cairo | OK&amp;3M</dc:title>
  <dc:subject/>
  <dc:creator>Right Click</dc:creator>
  <cp:lastModifiedBy>منة الله ناصر كمال عبدالمجيد السيد</cp:lastModifiedBy>
  <cp:revision>34</cp:revision>
  <dcterms:created xsi:type="dcterms:W3CDTF">2026-10-15T10:35:24Z</dcterms:created>
  <dcterms:modified xsi:type="dcterms:W3CDTF">2026-10-15T19:20:16Z</dcterms:modified>
</cp:coreProperties>
</file>